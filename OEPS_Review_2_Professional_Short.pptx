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4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83112" cy="10972"/>
          </a:xfrm>
          <a:prstGeom prst="rect">
            <a:avLst/>
          </a:prstGeom>
          <a:solidFill>
            <a:srgbClr val="17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1792"/>
            <a:ext cx="1993392" cy="347472"/>
          </a:xfrm>
          <a:prstGeom prst="roundRect">
            <a:avLst>
              <a:gd name="adj" fmla="val 12000"/>
            </a:avLst>
          </a:prstGeom>
          <a:solidFill>
            <a:srgbClr val="223652"/>
          </a:solidFill>
          <a:ln>
            <a:solidFill>
              <a:srgbClr val="22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676656"/>
            <a:ext cx="1691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C4B7"/>
                </a:solidFill>
                <a:latin typeface="Aptos"/>
              </a:rPr>
              <a:t>SECOND JURY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7498079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8FAFD"/>
                </a:solidFill>
                <a:latin typeface="Aptos"/>
              </a:rPr>
              <a:t>AGILE SOFTWARE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048256"/>
            <a:ext cx="7498079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5ED6E2"/>
                </a:solidFill>
                <a:latin typeface="Aptos"/>
              </a:rPr>
              <a:t>Online Examination &amp;
Proctoring System (OEPS)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90672"/>
            <a:ext cx="69494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Aptos"/>
              </a:rPr>
              <a:t>Unit III · Agile Estimation &amp; Sprint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20440"/>
            <a:ext cx="69494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Aptos"/>
              </a:rPr>
              <a:t>Unit IV · Sprint Execution &amp; Management 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1353312"/>
            <a:ext cx="2788920" cy="3154680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42832" y="1600200"/>
            <a:ext cx="2194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2C4B7"/>
                </a:solidFill>
                <a:latin typeface="Aptos"/>
              </a:rPr>
              <a:t>OEPS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42832" y="2103120"/>
            <a:ext cx="2148840" cy="356616"/>
          </a:xfrm>
          <a:prstGeom prst="roundRect">
            <a:avLst>
              <a:gd name="adj" fmla="val 12000"/>
            </a:avLst>
          </a:prstGeom>
          <a:solidFill>
            <a:srgbClr val="223652"/>
          </a:solidFill>
          <a:ln>
            <a:solidFill>
              <a:srgbClr val="22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98280" y="2203703"/>
            <a:ext cx="137160" cy="137160"/>
          </a:xfrm>
          <a:prstGeom prst="ellipse">
            <a:avLst/>
          </a:prstGeom>
          <a:solidFill>
            <a:srgbClr val="22C4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45168" y="2157984"/>
            <a:ext cx="1463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8FAFD"/>
                </a:solidFill>
                <a:latin typeface="Aptos"/>
              </a:rPr>
              <a:t>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42832" y="2624327"/>
            <a:ext cx="2148840" cy="356616"/>
          </a:xfrm>
          <a:prstGeom prst="roundRect">
            <a:avLst>
              <a:gd name="adj" fmla="val 12000"/>
            </a:avLst>
          </a:prstGeom>
          <a:solidFill>
            <a:srgbClr val="223652"/>
          </a:solidFill>
          <a:ln>
            <a:solidFill>
              <a:srgbClr val="22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98280" y="2724911"/>
            <a:ext cx="137160" cy="137160"/>
          </a:xfrm>
          <a:prstGeom prst="ellipse">
            <a:avLst/>
          </a:prstGeom>
          <a:solidFill>
            <a:srgbClr val="5E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5168" y="2679191"/>
            <a:ext cx="1463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8FAFD"/>
                </a:solidFill>
                <a:latin typeface="Aptos"/>
              </a:rPr>
              <a:t>Build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2832" y="3145535"/>
            <a:ext cx="2148840" cy="356616"/>
          </a:xfrm>
          <a:prstGeom prst="roundRect">
            <a:avLst>
              <a:gd name="adj" fmla="val 12000"/>
            </a:avLst>
          </a:prstGeom>
          <a:solidFill>
            <a:srgbClr val="223652"/>
          </a:solidFill>
          <a:ln>
            <a:solidFill>
              <a:srgbClr val="22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98280" y="3246119"/>
            <a:ext cx="137160" cy="137160"/>
          </a:xfrm>
          <a:prstGeom prst="ellipse">
            <a:avLst/>
          </a:prstGeom>
          <a:solidFill>
            <a:srgbClr val="FF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5168" y="3200399"/>
            <a:ext cx="1463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8FAFD"/>
                </a:solidFill>
                <a:latin typeface="Aptos"/>
              </a:rPr>
              <a:t>Test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42832" y="3666744"/>
            <a:ext cx="2148840" cy="356616"/>
          </a:xfrm>
          <a:prstGeom prst="roundRect">
            <a:avLst>
              <a:gd name="adj" fmla="val 12000"/>
            </a:avLst>
          </a:prstGeom>
          <a:solidFill>
            <a:srgbClr val="223652"/>
          </a:solidFill>
          <a:ln>
            <a:solidFill>
              <a:srgbClr val="22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98280" y="3767328"/>
            <a:ext cx="137160" cy="137160"/>
          </a:xfrm>
          <a:prstGeom prst="ellipse">
            <a:avLst/>
          </a:prstGeom>
          <a:solidFill>
            <a:srgbClr val="68D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5168" y="3721607"/>
            <a:ext cx="1463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8FAFD"/>
                </a:solidFill>
                <a:latin typeface="Aptos"/>
              </a:rPr>
              <a:t>Release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4846320"/>
            <a:ext cx="7223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B1BFD2"/>
                </a:solidFill>
                <a:latin typeface="Aptos"/>
              </a:rPr>
              <a:t>MIT School of Computing · MIT-ADT University, Pune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5248656"/>
            <a:ext cx="7223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B1BFD2"/>
                </a:solidFill>
                <a:latin typeface="Aptos"/>
              </a:rPr>
              <a:t>Group G4  |  TY-AIA-2 / TY-AIA-4  |  AY 2026–27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5760720"/>
            <a:ext cx="7680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B1BFD2"/>
                </a:solidFill>
                <a:latin typeface="Aptos"/>
              </a:rPr>
              <a:t>Akhil Patel  •  Aashu Aman  •  Parth Sharma  •  Atharva Kumar  •  Pawan Angad Jadhav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153912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C4B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4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83112" cy="10972"/>
          </a:xfrm>
          <a:prstGeom prst="rect">
            <a:avLst/>
          </a:prstGeom>
          <a:solidFill>
            <a:srgbClr val="17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8FAFD"/>
                </a:solidFill>
                <a:latin typeface="Aptos"/>
              </a:rPr>
              <a:t>From foundations to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698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B1BFD2"/>
                </a:solidFill>
                <a:latin typeface="Aptos"/>
              </a:rPr>
              <a:t>Review 2 applies Unit III and IV concepts to the same OEPS case study.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22C4B7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36192"/>
            <a:ext cx="3456432" cy="2057400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36192"/>
            <a:ext cx="64008" cy="2057400"/>
          </a:xfrm>
          <a:prstGeom prst="rect">
            <a:avLst/>
          </a:prstGeom>
          <a:solidFill>
            <a:srgbClr val="22C4B7"/>
          </a:solidFill>
          <a:ln>
            <a:solidFill>
              <a:srgbClr val="22C4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682495"/>
            <a:ext cx="307238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Aptos"/>
              </a:rPr>
              <a:t>Review 1 · 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066543"/>
            <a:ext cx="3072384" cy="14356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B1BFD2"/>
                </a:solidFill>
                <a:latin typeface="Aptos"/>
              </a:rPr>
              <a:t>Stakeholders, requirements, Scrum roles and hybrid Agile approach.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536192"/>
            <a:ext cx="3456432" cy="2057400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1688" y="1536192"/>
            <a:ext cx="64008" cy="2057400"/>
          </a:xfrm>
          <a:prstGeom prst="rect">
            <a:avLst/>
          </a:prstGeom>
          <a:solidFill>
            <a:srgbClr val="5ED6E2"/>
          </a:solidFill>
          <a:ln>
            <a:solidFill>
              <a:srgbClr val="5E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5" y="1682495"/>
            <a:ext cx="307238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Aptos"/>
              </a:rPr>
              <a:t>Unit III ·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5" y="2066543"/>
            <a:ext cx="3072384" cy="14356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B1BFD2"/>
                </a:solidFill>
                <a:latin typeface="Aptos"/>
              </a:rPr>
              <a:t>Break requirements into user stories, estimate effort and plan a sprint.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536192"/>
            <a:ext cx="3456432" cy="2057400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536192"/>
            <a:ext cx="64008" cy="2057400"/>
          </a:xfrm>
          <a:prstGeom prst="rect">
            <a:avLst/>
          </a:prstGeom>
          <a:solidFill>
            <a:srgbClr val="FFC45C"/>
          </a:solidFill>
          <a:ln>
            <a:solidFill>
              <a:srgbClr val="FFC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1682495"/>
            <a:ext cx="307238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Aptos"/>
              </a:rPr>
              <a:t>Unit IV · Deliver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2066543"/>
            <a:ext cx="3072384" cy="14356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B1BFD2"/>
                </a:solidFill>
                <a:latin typeface="Aptos"/>
              </a:rPr>
              <a:t>Execute the sprint with testing, reviews, risk tracking and CI/CD.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133087"/>
            <a:ext cx="10607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8FAFD"/>
                </a:solidFill>
                <a:latin typeface="Aptos"/>
              </a:rPr>
              <a:t>Goal: deliver a reliable, secure online exam experience in small, testable increments.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892040"/>
            <a:ext cx="2240280" cy="566928"/>
          </a:xfrm>
          <a:prstGeom prst="roundRect">
            <a:avLst>
              <a:gd name="adj" fmla="val 12000"/>
            </a:avLst>
          </a:prstGeom>
          <a:solidFill>
            <a:srgbClr val="223652"/>
          </a:solidFill>
          <a:ln>
            <a:solidFill>
              <a:srgbClr val="22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047488"/>
            <a:ext cx="2057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22C4B7"/>
                </a:solidFill>
                <a:latin typeface="Aptos"/>
              </a:rPr>
              <a:t>REQUIREMENTS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020056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B1BFD2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03320" y="4892040"/>
            <a:ext cx="2240280" cy="566928"/>
          </a:xfrm>
          <a:prstGeom prst="roundRect">
            <a:avLst>
              <a:gd name="adj" fmla="val 12000"/>
            </a:avLst>
          </a:prstGeom>
          <a:solidFill>
            <a:srgbClr val="223652"/>
          </a:solidFill>
          <a:ln>
            <a:solidFill>
              <a:srgbClr val="22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59" y="5047488"/>
            <a:ext cx="2057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5ED6E2"/>
                </a:solidFill>
                <a:latin typeface="Aptos"/>
              </a:rPr>
              <a:t>SPRINT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5020056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B1BFD2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4892040"/>
            <a:ext cx="2240280" cy="566928"/>
          </a:xfrm>
          <a:prstGeom prst="roundRect">
            <a:avLst>
              <a:gd name="adj" fmla="val 12000"/>
            </a:avLst>
          </a:prstGeom>
          <a:solidFill>
            <a:srgbClr val="223652"/>
          </a:solidFill>
          <a:ln>
            <a:solidFill>
              <a:srgbClr val="22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79" y="5047488"/>
            <a:ext cx="2057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C45C"/>
                </a:solidFill>
                <a:latin typeface="Aptos"/>
              </a:rPr>
              <a:t>BUILD + 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5020056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B1BFD2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81159" y="4892040"/>
            <a:ext cx="2240280" cy="566928"/>
          </a:xfrm>
          <a:prstGeom prst="roundRect">
            <a:avLst>
              <a:gd name="adj" fmla="val 12000"/>
            </a:avLst>
          </a:prstGeom>
          <a:solidFill>
            <a:srgbClr val="223652"/>
          </a:solidFill>
          <a:ln>
            <a:solidFill>
              <a:srgbClr val="22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599" y="5047488"/>
            <a:ext cx="2057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8DCA4"/>
                </a:solidFill>
                <a:latin typeface="Aptos"/>
              </a:rPr>
              <a:t>RELEASE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27278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B1BFD2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4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83112" cy="10972"/>
          </a:xfrm>
          <a:prstGeom prst="rect">
            <a:avLst/>
          </a:prstGeom>
          <a:solidFill>
            <a:srgbClr val="17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8FAFD"/>
                </a:solidFill>
                <a:latin typeface="Aptos"/>
              </a:rPr>
              <a:t>OEPS product backlog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698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B1BFD2"/>
                </a:solidFill>
                <a:latin typeface="Aptos"/>
              </a:rPr>
              <a:t>Example user stories ordered by value and risk.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22C4B7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399032"/>
            <a:ext cx="5074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C4B7"/>
                </a:solidFill>
                <a:latin typeface="Aptos"/>
              </a:rPr>
              <a:t>USER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399032"/>
            <a:ext cx="2971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C4B7"/>
                </a:solidFill>
                <a:latin typeface="Aptos"/>
              </a:rP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399032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C4B7"/>
                </a:solidFill>
                <a:latin typeface="Aptos"/>
              </a:rPr>
              <a:t>PRIORITY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37360"/>
            <a:ext cx="10835640" cy="603504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92807"/>
            <a:ext cx="48463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8FAFD"/>
                </a:solidFill>
                <a:latin typeface="Aptos"/>
              </a:rPr>
              <a:t>As a student, I want to log in securely.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25312" y="1892807"/>
            <a:ext cx="2971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B1BFD2"/>
                </a:solidFill>
                <a:latin typeface="Aptos"/>
              </a:rPr>
              <a:t>Protect exam access.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1874519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172842"/>
          </a:solidFill>
          <a:ln>
            <a:solidFill>
              <a:srgbClr val="172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929384"/>
            <a:ext cx="1143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7070"/>
                </a:solidFill>
                <a:latin typeface="Aptos"/>
              </a:rPr>
              <a:t>HIGH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487168"/>
            <a:ext cx="10835640" cy="603504"/>
          </a:xfrm>
          <a:prstGeom prst="roundRect">
            <a:avLst>
              <a:gd name="adj" fmla="val 12000"/>
            </a:avLst>
          </a:prstGeom>
          <a:solidFill>
            <a:srgbClr val="223652"/>
          </a:solidFill>
          <a:ln>
            <a:solidFill>
              <a:srgbClr val="22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642615"/>
            <a:ext cx="48463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8FAFD"/>
                </a:solidFill>
                <a:latin typeface="Aptos"/>
              </a:rPr>
              <a:t>As a student, I want answers auto-saved.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5312" y="2642615"/>
            <a:ext cx="2971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B1BFD2"/>
                </a:solidFill>
                <a:latin typeface="Aptos"/>
              </a:rPr>
              <a:t>Prevent answer loss.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2624327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172842"/>
          </a:solidFill>
          <a:ln>
            <a:solidFill>
              <a:srgbClr val="172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679191"/>
            <a:ext cx="1143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7070"/>
                </a:solidFill>
                <a:latin typeface="Aptos"/>
              </a:rPr>
              <a:t>HIGH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236976"/>
            <a:ext cx="10835640" cy="603504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392424"/>
            <a:ext cx="48463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8FAFD"/>
                </a:solidFill>
                <a:latin typeface="Aptos"/>
              </a:rPr>
              <a:t>As a student, I want a visible exam timer.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5312" y="3392424"/>
            <a:ext cx="2971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B1BFD2"/>
                </a:solidFill>
                <a:latin typeface="Aptos"/>
              </a:rPr>
              <a:t>Know time remaining.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3374136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172842"/>
          </a:solidFill>
          <a:ln>
            <a:solidFill>
              <a:srgbClr val="172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3429000"/>
            <a:ext cx="1143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C45C"/>
                </a:solidFill>
                <a:latin typeface="Aptos"/>
              </a:rPr>
              <a:t>HIGH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986783"/>
            <a:ext cx="10835640" cy="603504"/>
          </a:xfrm>
          <a:prstGeom prst="roundRect">
            <a:avLst>
              <a:gd name="adj" fmla="val 12000"/>
            </a:avLst>
          </a:prstGeom>
          <a:solidFill>
            <a:srgbClr val="223652"/>
          </a:solidFill>
          <a:ln>
            <a:solidFill>
              <a:srgbClr val="22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142231"/>
            <a:ext cx="48463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8FAFD"/>
                </a:solidFill>
                <a:latin typeface="Aptos"/>
              </a:rPr>
              <a:t>As a proctor, I want to review flagged sessions.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5312" y="4142231"/>
            <a:ext cx="2971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B1BFD2"/>
                </a:solidFill>
                <a:latin typeface="Aptos"/>
              </a:rPr>
              <a:t>Support fair review.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20" y="4123944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172842"/>
          </a:solidFill>
          <a:ln>
            <a:solidFill>
              <a:srgbClr val="172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4178807"/>
            <a:ext cx="1143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5ED6E2"/>
                </a:solidFill>
                <a:latin typeface="Aptos"/>
              </a:rPr>
              <a:t>MEDIUM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36592"/>
            <a:ext cx="10835640" cy="603504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892040"/>
            <a:ext cx="48463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8FAFD"/>
                </a:solidFill>
                <a:latin typeface="Aptos"/>
              </a:rPr>
              <a:t>As a student, I want to view results.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25312" y="4892040"/>
            <a:ext cx="2971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B1BFD2"/>
                </a:solidFill>
                <a:latin typeface="Aptos"/>
              </a:rPr>
              <a:t>See outcome after release.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4873752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172842"/>
          </a:solidFill>
          <a:ln>
            <a:solidFill>
              <a:srgbClr val="172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4928616"/>
            <a:ext cx="1143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5ED6E2"/>
                </a:solidFill>
                <a:latin typeface="Aptos"/>
              </a:rPr>
              <a:t>MEDIUM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5742432"/>
            <a:ext cx="10515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B1BFD2"/>
                </a:solidFill>
                <a:latin typeface="Aptos"/>
              </a:rPr>
              <a:t>Priorities are illustrative; confirm them with the product owner.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27278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B1BFD2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4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83112" cy="10972"/>
          </a:xfrm>
          <a:prstGeom prst="rect">
            <a:avLst/>
          </a:prstGeom>
          <a:solidFill>
            <a:srgbClr val="17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8FAFD"/>
                </a:solidFill>
                <a:latin typeface="Aptos"/>
              </a:rPr>
              <a:t>Make stories small and testable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698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B1BFD2"/>
                </a:solidFill>
                <a:latin typeface="Aptos"/>
              </a:rPr>
              <a:t>Use INVEST as a quick quality check before estimation.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22C4B7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691640" cy="713232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18488"/>
            <a:ext cx="3840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2C4B7"/>
                </a:solidFill>
                <a:latin typeface="Aptos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00784"/>
            <a:ext cx="960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8FAFD"/>
                </a:solidFill>
                <a:latin typeface="Aptos"/>
              </a:rPr>
              <a:t>Independent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1481328"/>
            <a:ext cx="1691640" cy="713232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618488"/>
            <a:ext cx="3840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2C4B7"/>
                </a:solidFill>
                <a:latin typeface="Aptos"/>
              </a:rP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700784"/>
            <a:ext cx="960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8FAFD"/>
                </a:solidFill>
                <a:latin typeface="Aptos"/>
              </a:rPr>
              <a:t>Negotiable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481328"/>
            <a:ext cx="1691640" cy="713232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618488"/>
            <a:ext cx="3840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2C4B7"/>
                </a:solidFill>
                <a:latin typeface="Aptos"/>
              </a:rPr>
              <a:t>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700784"/>
            <a:ext cx="960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8FAFD"/>
                </a:solidFill>
                <a:latin typeface="Aptos"/>
              </a:rPr>
              <a:t>Valuable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468880"/>
            <a:ext cx="1691640" cy="713232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606040"/>
            <a:ext cx="3840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2C4B7"/>
                </a:solidFill>
                <a:latin typeface="Aptos"/>
              </a:rPr>
              <a:t>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688336"/>
            <a:ext cx="960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8FAFD"/>
                </a:solidFill>
                <a:latin typeface="Aptos"/>
              </a:rPr>
              <a:t>Estimable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06040" y="2468880"/>
            <a:ext cx="1691640" cy="713232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2606040"/>
            <a:ext cx="3840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2C4B7"/>
                </a:solidFill>
                <a:latin typeface="Aptos"/>
              </a:rP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688336"/>
            <a:ext cx="960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8FAFD"/>
                </a:solidFill>
                <a:latin typeface="Aptos"/>
              </a:rPr>
              <a:t>Small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2468880"/>
            <a:ext cx="1691640" cy="713232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2606040"/>
            <a:ext cx="3840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2C4B7"/>
                </a:solidFill>
                <a:latin typeface="Aptos"/>
              </a:rPr>
              <a:t>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688336"/>
            <a:ext cx="960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8FAFD"/>
                </a:solidFill>
                <a:latin typeface="Aptos"/>
              </a:rPr>
              <a:t>Testable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40" y="1481328"/>
            <a:ext cx="4681728" cy="2743200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1719072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ED6E2"/>
                </a:solidFill>
                <a:latin typeface="Aptos"/>
              </a:rPr>
              <a:t>STORY SPLITTING EXAMPLE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2148840"/>
            <a:ext cx="4023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FC45C"/>
                </a:solidFill>
                <a:latin typeface="Aptos"/>
              </a:rPr>
              <a:t>Too large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2468880"/>
            <a:ext cx="397763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Aptos"/>
              </a:rPr>
              <a:t>“Build the full online exam system”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2962656"/>
            <a:ext cx="4023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B1BFD2"/>
                </a:solidFill>
                <a:latin typeface="Aptos"/>
              </a:rPr>
              <a:t>Split into small deliverables:</a:t>
            </a:r>
          </a:p>
        </p:txBody>
      </p:sp>
      <p:sp>
        <p:nvSpPr>
          <p:cNvPr id="30" name="Oval 29"/>
          <p:cNvSpPr/>
          <p:nvPr/>
        </p:nvSpPr>
        <p:spPr>
          <a:xfrm>
            <a:off x="7022592" y="3429000"/>
            <a:ext cx="82296" cy="82296"/>
          </a:xfrm>
          <a:prstGeom prst="ellipse">
            <a:avLst/>
          </a:prstGeom>
          <a:solidFill>
            <a:srgbClr val="22C4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59" y="3319272"/>
            <a:ext cx="38679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8FAFD"/>
                </a:solidFill>
                <a:latin typeface="Aptos"/>
              </a:rPr>
              <a:t>Secure login</a:t>
            </a:r>
          </a:p>
        </p:txBody>
      </p:sp>
      <p:sp>
        <p:nvSpPr>
          <p:cNvPr id="32" name="Oval 31"/>
          <p:cNvSpPr/>
          <p:nvPr/>
        </p:nvSpPr>
        <p:spPr>
          <a:xfrm>
            <a:off x="7022592" y="3749039"/>
            <a:ext cx="82296" cy="82296"/>
          </a:xfrm>
          <a:prstGeom prst="ellipse">
            <a:avLst/>
          </a:prstGeom>
          <a:solidFill>
            <a:srgbClr val="22C4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59" y="3639312"/>
            <a:ext cx="38679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8FAFD"/>
                </a:solidFill>
                <a:latin typeface="Aptos"/>
              </a:rPr>
              <a:t>Auto-save answers</a:t>
            </a:r>
          </a:p>
        </p:txBody>
      </p:sp>
      <p:sp>
        <p:nvSpPr>
          <p:cNvPr id="34" name="Oval 33"/>
          <p:cNvSpPr/>
          <p:nvPr/>
        </p:nvSpPr>
        <p:spPr>
          <a:xfrm>
            <a:off x="7022592" y="4069080"/>
            <a:ext cx="82296" cy="82296"/>
          </a:xfrm>
          <a:prstGeom prst="ellipse">
            <a:avLst/>
          </a:prstGeom>
          <a:solidFill>
            <a:srgbClr val="22C4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59" y="3959352"/>
            <a:ext cx="38679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8FAFD"/>
                </a:solidFill>
                <a:latin typeface="Aptos"/>
              </a:rPr>
              <a:t>Exam timer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4709160"/>
            <a:ext cx="104241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Aptos"/>
              </a:rPr>
              <a:t>Rule of thumb: one story should fit inside a sprint and have clear acceptance criteria.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27278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B1BFD2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4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83112" cy="10972"/>
          </a:xfrm>
          <a:prstGeom prst="rect">
            <a:avLst/>
          </a:prstGeom>
          <a:solidFill>
            <a:srgbClr val="17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8FAFD"/>
                </a:solidFill>
                <a:latin typeface="Aptos"/>
              </a:rPr>
              <a:t>Estimate, prioritize and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698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B1BFD2"/>
                </a:solidFill>
                <a:latin typeface="Aptos"/>
              </a:rPr>
              <a:t>Use relative effort—not hours—to agree on a realistic sprint.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22C4B7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429000" cy="1828800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64008" cy="1828800"/>
          </a:xfrm>
          <a:prstGeom prst="rect">
            <a:avLst/>
          </a:prstGeom>
          <a:solidFill>
            <a:srgbClr val="22C4B7"/>
          </a:solidFill>
          <a:ln>
            <a:solidFill>
              <a:srgbClr val="22C4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63624"/>
            <a:ext cx="30449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Aptos"/>
              </a:rPr>
              <a:t>Planning Poker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47672"/>
            <a:ext cx="3044952" cy="12070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B1BFD2"/>
                </a:solidFill>
                <a:latin typeface="Aptos"/>
              </a:rPr>
              <a:t>Team members estimate independently, reveal together, then discuss differences.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417320"/>
            <a:ext cx="3429000" cy="1828800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417320"/>
            <a:ext cx="64008" cy="1828800"/>
          </a:xfrm>
          <a:prstGeom prst="rect">
            <a:avLst/>
          </a:prstGeom>
          <a:solidFill>
            <a:srgbClr val="5ED6E2"/>
          </a:solidFill>
          <a:ln>
            <a:solidFill>
              <a:srgbClr val="5E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63624"/>
            <a:ext cx="30449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Aptos"/>
              </a:rPr>
              <a:t>Story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47672"/>
            <a:ext cx="3044952" cy="12070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B1BFD2"/>
                </a:solidFill>
                <a:latin typeface="Aptos"/>
              </a:rPr>
              <a:t>Represent relative effort, complexity and uncertainty.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417320"/>
            <a:ext cx="3429000" cy="1828800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4" y="1417320"/>
            <a:ext cx="64008" cy="1828800"/>
          </a:xfrm>
          <a:prstGeom prst="rect">
            <a:avLst/>
          </a:prstGeom>
          <a:solidFill>
            <a:srgbClr val="FFC45C"/>
          </a:solidFill>
          <a:ln>
            <a:solidFill>
              <a:srgbClr val="FFC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1563624"/>
            <a:ext cx="30449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Aptos"/>
              </a:rPr>
              <a:t>Velocity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1947672"/>
            <a:ext cx="3044952" cy="12070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B1BFD2"/>
                </a:solidFill>
                <a:latin typeface="Aptos"/>
              </a:rPr>
              <a:t>Use completed work from past sprints to guide future capacity.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703320"/>
            <a:ext cx="4023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C4B7"/>
                </a:solidFill>
                <a:latin typeface="Aptos"/>
              </a:rPr>
              <a:t>ILLUSTRATIVE SPRINT BACKLOG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069080"/>
            <a:ext cx="3840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8FAFD"/>
                </a:solidFill>
                <a:latin typeface="Aptos"/>
              </a:rPr>
              <a:t>Secure login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4078224"/>
            <a:ext cx="3657600" cy="219456"/>
          </a:xfrm>
          <a:prstGeom prst="roundRect">
            <a:avLst>
              <a:gd name="adj" fmla="val 12000"/>
            </a:avLst>
          </a:prstGeom>
          <a:solidFill>
            <a:srgbClr val="223652"/>
          </a:solidFill>
          <a:ln>
            <a:solidFill>
              <a:srgbClr val="22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4078224"/>
            <a:ext cx="2194560" cy="219456"/>
          </a:xfrm>
          <a:prstGeom prst="rect">
            <a:avLst/>
          </a:prstGeom>
          <a:solidFill>
            <a:srgbClr val="22C4B7"/>
          </a:solidFill>
          <a:ln>
            <a:solidFill>
              <a:srgbClr val="22C4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4069080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B1BFD2"/>
                </a:solidFill>
                <a:latin typeface="Aptos"/>
              </a:rPr>
              <a:t>3 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553712"/>
            <a:ext cx="3840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8FAFD"/>
                </a:solidFill>
                <a:latin typeface="Aptos"/>
              </a:rPr>
              <a:t>Auto-save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4562856"/>
            <a:ext cx="3657600" cy="219456"/>
          </a:xfrm>
          <a:prstGeom prst="roundRect">
            <a:avLst>
              <a:gd name="adj" fmla="val 12000"/>
            </a:avLst>
          </a:prstGeom>
          <a:solidFill>
            <a:srgbClr val="223652"/>
          </a:solidFill>
          <a:ln>
            <a:solidFill>
              <a:srgbClr val="22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0" y="4562856"/>
            <a:ext cx="3657600" cy="219456"/>
          </a:xfrm>
          <a:prstGeom prst="rect">
            <a:avLst/>
          </a:prstGeom>
          <a:solidFill>
            <a:srgbClr val="5ED6E2"/>
          </a:solidFill>
          <a:ln>
            <a:solidFill>
              <a:srgbClr val="5E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4553712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B1BFD2"/>
                </a:solidFill>
                <a:latin typeface="Aptos"/>
              </a:rPr>
              <a:t>5 points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038344"/>
            <a:ext cx="3840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8FAFD"/>
                </a:solidFill>
                <a:latin typeface="Aptos"/>
              </a:rPr>
              <a:t>Exam timer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5047488"/>
            <a:ext cx="3657600" cy="219456"/>
          </a:xfrm>
          <a:prstGeom prst="roundRect">
            <a:avLst>
              <a:gd name="adj" fmla="val 12000"/>
            </a:avLst>
          </a:prstGeom>
          <a:solidFill>
            <a:srgbClr val="223652"/>
          </a:solidFill>
          <a:ln>
            <a:solidFill>
              <a:srgbClr val="22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0" y="5047488"/>
            <a:ext cx="2194560" cy="219456"/>
          </a:xfrm>
          <a:prstGeom prst="rect">
            <a:avLst/>
          </a:prstGeom>
          <a:solidFill>
            <a:srgbClr val="22C4B7"/>
          </a:solidFill>
          <a:ln>
            <a:solidFill>
              <a:srgbClr val="22C4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5038344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B1BFD2"/>
                </a:solidFill>
                <a:latin typeface="Aptos"/>
              </a:rPr>
              <a:t>3 points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4096512"/>
            <a:ext cx="173736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2C4B7"/>
                </a:solidFill>
                <a:latin typeface="Aptos"/>
              </a:rPr>
              <a:t>Total: 11 pts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705856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B1BFD2"/>
                </a:solidFill>
                <a:latin typeface="Aptos"/>
              </a:rPr>
              <a:t>Illustrative estimates only; final scope depends on team capacity and dependencies.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27278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B1BFD2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4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83112" cy="10972"/>
          </a:xfrm>
          <a:prstGeom prst="rect">
            <a:avLst/>
          </a:prstGeom>
          <a:solidFill>
            <a:srgbClr val="17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8FAFD"/>
                </a:solidFill>
                <a:latin typeface="Aptos"/>
              </a:rPr>
              <a:t>Sprint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698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B1BFD2"/>
                </a:solidFill>
                <a:latin typeface="Aptos"/>
              </a:rPr>
              <a:t>A short feedback loop keeps progress visible and issues manageable.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22C4B7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2423160" cy="1965960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6968" y="2121408"/>
            <a:ext cx="502920" cy="502920"/>
          </a:xfrm>
          <a:prstGeom prst="ellipse">
            <a:avLst/>
          </a:prstGeom>
          <a:solidFill>
            <a:srgbClr val="22C4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2219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0F1B30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816352"/>
            <a:ext cx="20116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Aptos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227832"/>
            <a:ext cx="19659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B1BFD2"/>
                </a:solidFill>
                <a:latin typeface="Aptos"/>
              </a:rPr>
              <a:t>Sprint goal + selected stories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2615184"/>
            <a:ext cx="3657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22C4B7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8728" y="1874519"/>
            <a:ext cx="2423160" cy="1965960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39896" y="2121408"/>
            <a:ext cx="502920" cy="502920"/>
          </a:xfrm>
          <a:prstGeom prst="ellipse">
            <a:avLst/>
          </a:prstGeom>
          <a:solidFill>
            <a:srgbClr val="5E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9896" y="22219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0F1B30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9896" y="2816352"/>
            <a:ext cx="20116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Aptos"/>
              </a:rP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3227832"/>
            <a:ext cx="19659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B1BFD2"/>
                </a:solidFill>
                <a:latin typeface="Aptos"/>
              </a:rPr>
              <a:t>Design, code and collaborate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615184"/>
            <a:ext cx="3657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22C4B7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91656" y="1874519"/>
            <a:ext cx="2423160" cy="1965960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92824" y="2121408"/>
            <a:ext cx="502920" cy="502920"/>
          </a:xfrm>
          <a:prstGeom prst="ellipse">
            <a:avLst/>
          </a:prstGeom>
          <a:solidFill>
            <a:srgbClr val="FF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92824" y="22219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0F1B30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2824" y="2816352"/>
            <a:ext cx="20116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Aptos"/>
              </a:rPr>
              <a:t>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2824" y="3227832"/>
            <a:ext cx="19659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B1BFD2"/>
                </a:solidFill>
                <a:latin typeface="Aptos"/>
              </a:rPr>
              <a:t>Daily Scrum + tests +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2248" y="2615184"/>
            <a:ext cx="3657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22C4B7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44584" y="1874519"/>
            <a:ext cx="2423160" cy="1965960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45752" y="2121408"/>
            <a:ext cx="502920" cy="502920"/>
          </a:xfrm>
          <a:prstGeom prst="ellipse">
            <a:avLst/>
          </a:prstGeom>
          <a:solidFill>
            <a:srgbClr val="68D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45752" y="22219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0F1B30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2" y="2816352"/>
            <a:ext cx="20116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Aptos"/>
              </a:rPr>
              <a:t>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5752" y="3227832"/>
            <a:ext cx="19659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B1BFD2"/>
                </a:solidFill>
                <a:latin typeface="Aptos"/>
              </a:rPr>
              <a:t>Demo increment and collect feedback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572000"/>
            <a:ext cx="10332720" cy="685800"/>
          </a:xfrm>
          <a:prstGeom prst="roundRect">
            <a:avLst>
              <a:gd name="adj" fmla="val 12000"/>
            </a:avLst>
          </a:prstGeom>
          <a:solidFill>
            <a:srgbClr val="223652"/>
          </a:solidFill>
          <a:ln>
            <a:solidFill>
              <a:srgbClr val="22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4782312"/>
            <a:ext cx="9875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8FAFD"/>
                </a:solidFill>
                <a:latin typeface="Aptos"/>
              </a:rPr>
              <a:t>Definition of Done: code reviewed, tests passed, acceptance criteria met, and documentation updated.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27278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B1BFD2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4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83112" cy="10972"/>
          </a:xfrm>
          <a:prstGeom prst="rect">
            <a:avLst/>
          </a:prstGeom>
          <a:solidFill>
            <a:srgbClr val="17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8FAFD"/>
                </a:solidFill>
                <a:latin typeface="Aptos"/>
              </a:rPr>
              <a:t>Quality assurance and risk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698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B1BFD2"/>
                </a:solidFill>
                <a:latin typeface="Aptos"/>
              </a:rPr>
              <a:t>Build quality into the sprint instead of waiting until the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22C4B7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429000" cy="2240280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64008" cy="2240280"/>
          </a:xfrm>
          <a:prstGeom prst="rect">
            <a:avLst/>
          </a:prstGeom>
          <a:solidFill>
            <a:srgbClr val="22C4B7"/>
          </a:solidFill>
          <a:ln>
            <a:solidFill>
              <a:srgbClr val="22C4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63624"/>
            <a:ext cx="30449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Aptos"/>
              </a:rPr>
              <a:t>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47672"/>
            <a:ext cx="3044952" cy="1618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B1BFD2"/>
                </a:solidFill>
                <a:latin typeface="Aptos"/>
              </a:rPr>
              <a:t>• Unit tests for individual functions
• Integration tests for connected modules
• System / acceptance tests for exam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417320"/>
            <a:ext cx="3429000" cy="2240280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417320"/>
            <a:ext cx="64008" cy="2240280"/>
          </a:xfrm>
          <a:prstGeom prst="rect">
            <a:avLst/>
          </a:prstGeom>
          <a:solidFill>
            <a:srgbClr val="5ED6E2"/>
          </a:solidFill>
          <a:ln>
            <a:solidFill>
              <a:srgbClr val="5E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63624"/>
            <a:ext cx="30449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Aptos"/>
              </a:rPr>
              <a:t>Code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47672"/>
            <a:ext cx="3044952" cy="1618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B1BFD2"/>
                </a:solidFill>
                <a:latin typeface="Aptos"/>
              </a:rPr>
              <a:t>• Peer review before merge
• Pair programming for complex tasks
• Definition of Done for every 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417320"/>
            <a:ext cx="3429000" cy="2240280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4" y="1417320"/>
            <a:ext cx="64008" cy="2240280"/>
          </a:xfrm>
          <a:prstGeom prst="rect">
            <a:avLst/>
          </a:prstGeom>
          <a:solidFill>
            <a:srgbClr val="FFC45C"/>
          </a:solidFill>
          <a:ln>
            <a:solidFill>
              <a:srgbClr val="FFC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1563624"/>
            <a:ext cx="30449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Aptos"/>
              </a:rPr>
              <a:t>Risk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1947672"/>
            <a:ext cx="3044952" cy="1618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B1BFD2"/>
                </a:solidFill>
                <a:latin typeface="Aptos"/>
              </a:rPr>
              <a:t>• Auto-save failure → test recovery
• Login abuse → validate access controls
• Proctor flags → human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43400"/>
            <a:ext cx="10515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Aptos"/>
              </a:rPr>
              <a:t>For OEPS, prioritize exam integrity, data protection, and reliable answer saving.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92040"/>
            <a:ext cx="104241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B1BFD2"/>
                </a:solidFill>
                <a:latin typeface="Aptos"/>
              </a:rPr>
              <a:t>Track each risk with an owner, likelihood, impact and mitigation action.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27278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B1BFD2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4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83112" cy="10972"/>
          </a:xfrm>
          <a:prstGeom prst="rect">
            <a:avLst/>
          </a:prstGeom>
          <a:solidFill>
            <a:srgbClr val="17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8FAFD"/>
                </a:solidFill>
                <a:latin typeface="Aptos"/>
              </a:rPr>
              <a:t>Tools that support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698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B1BFD2"/>
                </a:solidFill>
                <a:latin typeface="Aptos"/>
              </a:rPr>
              <a:t>Use tools to make work visible, reviewed and repeatable.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22C4B7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44752"/>
            <a:ext cx="3383280" cy="1353312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44752"/>
            <a:ext cx="64008" cy="1353312"/>
          </a:xfrm>
          <a:prstGeom prst="rect">
            <a:avLst/>
          </a:prstGeom>
          <a:solidFill>
            <a:srgbClr val="22C4B7"/>
          </a:solidFill>
          <a:ln>
            <a:solidFill>
              <a:srgbClr val="22C4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91056"/>
            <a:ext cx="299923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Aptos"/>
              </a:rPr>
              <a:t>Jira / Trello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75104"/>
            <a:ext cx="2999232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B1BFD2"/>
                </a:solidFill>
                <a:latin typeface="Aptos"/>
              </a:rPr>
              <a:t>Backlog, sprint board and task status.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971800"/>
            <a:ext cx="3383280" cy="1353312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971800"/>
            <a:ext cx="64008" cy="1353312"/>
          </a:xfrm>
          <a:prstGeom prst="rect">
            <a:avLst/>
          </a:prstGeom>
          <a:solidFill>
            <a:srgbClr val="5ED6E2"/>
          </a:solidFill>
          <a:ln>
            <a:solidFill>
              <a:srgbClr val="5E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118104"/>
            <a:ext cx="299923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Aptos"/>
              </a:rPr>
              <a:t>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502152"/>
            <a:ext cx="2999232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B1BFD2"/>
                </a:solidFill>
                <a:latin typeface="Aptos"/>
              </a:rPr>
              <a:t>Version control, pull requests and code review.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98848"/>
            <a:ext cx="3383280" cy="1353312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98848"/>
            <a:ext cx="64008" cy="1353312"/>
          </a:xfrm>
          <a:prstGeom prst="rect">
            <a:avLst/>
          </a:prstGeom>
          <a:solidFill>
            <a:srgbClr val="FFC45C"/>
          </a:solidFill>
          <a:ln>
            <a:solidFill>
              <a:srgbClr val="FFC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4645152"/>
            <a:ext cx="299923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8FAFD"/>
                </a:solidFill>
                <a:latin typeface="Aptos"/>
              </a:rPr>
              <a:t>Team routines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5029200"/>
            <a:ext cx="2999232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B1BFD2"/>
                </a:solidFill>
                <a:latin typeface="Aptos"/>
              </a:rPr>
              <a:t>Daily Scrum, pair programming and sprint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1508760"/>
            <a:ext cx="6217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C4B7"/>
                </a:solidFill>
                <a:latin typeface="Aptos"/>
              </a:rPr>
              <a:t>SIMPLE CI/CD PIPELINE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2148840"/>
            <a:ext cx="1143000" cy="685800"/>
          </a:xfrm>
          <a:prstGeom prst="roundRect">
            <a:avLst>
              <a:gd name="adj" fmla="val 12000"/>
            </a:avLst>
          </a:prstGeom>
          <a:solidFill>
            <a:srgbClr val="223652"/>
          </a:solidFill>
          <a:ln>
            <a:solidFill>
              <a:srgbClr val="22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368296"/>
            <a:ext cx="1051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Aptos"/>
              </a:rPr>
              <a:t>Commit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2907792"/>
            <a:ext cx="1051560" cy="45720"/>
          </a:xfrm>
          <a:prstGeom prst="rect">
            <a:avLst/>
          </a:prstGeom>
          <a:solidFill>
            <a:srgbClr val="22C4B7"/>
          </a:solidFill>
          <a:ln>
            <a:solidFill>
              <a:srgbClr val="22C4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2359152"/>
            <a:ext cx="2560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B1BFD2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2148840"/>
            <a:ext cx="1143000" cy="685800"/>
          </a:xfrm>
          <a:prstGeom prst="roundRect">
            <a:avLst>
              <a:gd name="adj" fmla="val 12000"/>
            </a:avLst>
          </a:prstGeom>
          <a:solidFill>
            <a:srgbClr val="223652"/>
          </a:solidFill>
          <a:ln>
            <a:solidFill>
              <a:srgbClr val="22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2368296"/>
            <a:ext cx="1051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Aptos"/>
              </a:rPr>
              <a:t>Build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2907792"/>
            <a:ext cx="1051560" cy="45720"/>
          </a:xfrm>
          <a:prstGeom prst="rect">
            <a:avLst/>
          </a:prstGeom>
          <a:solidFill>
            <a:srgbClr val="5ED6E2"/>
          </a:solidFill>
          <a:ln>
            <a:solidFill>
              <a:srgbClr val="5E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2359152"/>
            <a:ext cx="2560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B1BFD2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60920" y="2148840"/>
            <a:ext cx="1143000" cy="685800"/>
          </a:xfrm>
          <a:prstGeom prst="roundRect">
            <a:avLst>
              <a:gd name="adj" fmla="val 12000"/>
            </a:avLst>
          </a:prstGeom>
          <a:solidFill>
            <a:srgbClr val="223652"/>
          </a:solidFill>
          <a:ln>
            <a:solidFill>
              <a:srgbClr val="22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2368296"/>
            <a:ext cx="1051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Aptos"/>
              </a:rPr>
              <a:t>Test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2907792"/>
            <a:ext cx="1051560" cy="45720"/>
          </a:xfrm>
          <a:prstGeom prst="rect">
            <a:avLst/>
          </a:prstGeom>
          <a:solidFill>
            <a:srgbClr val="FFC45C"/>
          </a:solidFill>
          <a:ln>
            <a:solidFill>
              <a:srgbClr val="FFC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2359152"/>
            <a:ext cx="2560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B1BFD2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0" y="2148840"/>
            <a:ext cx="1143000" cy="685800"/>
          </a:xfrm>
          <a:prstGeom prst="roundRect">
            <a:avLst>
              <a:gd name="adj" fmla="val 12000"/>
            </a:avLst>
          </a:prstGeom>
          <a:solidFill>
            <a:srgbClr val="223652"/>
          </a:solidFill>
          <a:ln>
            <a:solidFill>
              <a:srgbClr val="22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3960" y="2368296"/>
            <a:ext cx="1051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Aptos"/>
              </a:rPr>
              <a:t>Review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23960" y="2907792"/>
            <a:ext cx="1051560" cy="45720"/>
          </a:xfrm>
          <a:prstGeom prst="rect">
            <a:avLst/>
          </a:prstGeom>
          <a:solidFill>
            <a:srgbClr val="68DCA4"/>
          </a:solidFill>
          <a:ln>
            <a:solidFill>
              <a:srgbClr val="68D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21240" y="2359152"/>
            <a:ext cx="2560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B1BFD2"/>
                </a:solidFill>
                <a:latin typeface="Aptos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95560" y="2148840"/>
            <a:ext cx="1143000" cy="685800"/>
          </a:xfrm>
          <a:prstGeom prst="roundRect">
            <a:avLst>
              <a:gd name="adj" fmla="val 12000"/>
            </a:avLst>
          </a:prstGeom>
          <a:solidFill>
            <a:srgbClr val="223652"/>
          </a:solidFill>
          <a:ln>
            <a:solidFill>
              <a:srgbClr val="22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0" y="2368296"/>
            <a:ext cx="1051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Aptos"/>
              </a:rPr>
              <a:t>Deploy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241280" y="2907792"/>
            <a:ext cx="1051560" cy="45720"/>
          </a:xfrm>
          <a:prstGeom prst="rect">
            <a:avLst/>
          </a:prstGeom>
          <a:solidFill>
            <a:srgbClr val="22C4B7"/>
          </a:solidFill>
          <a:ln>
            <a:solidFill>
              <a:srgbClr val="22C4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72000" y="3703320"/>
            <a:ext cx="6583680" cy="1280160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28032" y="3950208"/>
            <a:ext cx="6080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8FAFD"/>
                </a:solidFill>
                <a:latin typeface="Aptos"/>
              </a:rPr>
              <a:t>Why it helps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28032" y="4315968"/>
            <a:ext cx="60807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B1BFD2"/>
                </a:solidFill>
                <a:latin typeface="Aptos"/>
              </a:rPr>
              <a:t>Automated checks catch defects early and make releases more consistent.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5358384"/>
            <a:ext cx="6583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B1BFD2"/>
                </a:solidFill>
                <a:latin typeface="Aptos"/>
              </a:rPr>
              <a:t>Use only tools approved and available to the project team.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627278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B1BFD2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4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83112" cy="10972"/>
          </a:xfrm>
          <a:prstGeom prst="rect">
            <a:avLst/>
          </a:prstGeom>
          <a:solidFill>
            <a:srgbClr val="17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8FAFD"/>
                </a:solidFill>
                <a:latin typeface="Aptos"/>
              </a:rPr>
              <a:t>OEPS sprint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698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B1BFD2"/>
                </a:solidFill>
                <a:latin typeface="Aptos"/>
              </a:rPr>
              <a:t>Example: deliver the auto-save feature safely.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22C4B7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2103120" cy="585216"/>
          </a:xfrm>
          <a:prstGeom prst="roundRect">
            <a:avLst>
              <a:gd name="adj" fmla="val 12000"/>
            </a:avLst>
          </a:prstGeom>
          <a:solidFill>
            <a:srgbClr val="223652"/>
          </a:solidFill>
          <a:ln>
            <a:solidFill>
              <a:srgbClr val="22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499616"/>
            <a:ext cx="1783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2C4B7"/>
                </a:solidFill>
                <a:latin typeface="Aptos"/>
              </a:rPr>
              <a:t>SPRINT GOAL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325880"/>
            <a:ext cx="8183879" cy="585216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73552" y="1481328"/>
            <a:ext cx="7680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8FAFD"/>
                </a:solidFill>
                <a:latin typeface="Aptos"/>
              </a:rPr>
              <a:t>Answers are saved reliably during an exam.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67128"/>
            <a:ext cx="2103120" cy="585216"/>
          </a:xfrm>
          <a:prstGeom prst="roundRect">
            <a:avLst>
              <a:gd name="adj" fmla="val 12000"/>
            </a:avLst>
          </a:prstGeom>
          <a:solidFill>
            <a:srgbClr val="223652"/>
          </a:solidFill>
          <a:ln>
            <a:solidFill>
              <a:srgbClr val="22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340864"/>
            <a:ext cx="1783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ED6E2"/>
                </a:solidFill>
                <a:latin typeface="Aptos"/>
              </a:rPr>
              <a:t>ACCEPTANCE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167128"/>
            <a:ext cx="8183879" cy="585216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3552" y="2322576"/>
            <a:ext cx="7680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8FAFD"/>
                </a:solidFill>
                <a:latin typeface="Aptos"/>
              </a:rPr>
              <a:t>Save after each answer change; show save status; recover after refresh.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08376"/>
            <a:ext cx="2103120" cy="585216"/>
          </a:xfrm>
          <a:prstGeom prst="roundRect">
            <a:avLst>
              <a:gd name="adj" fmla="val 12000"/>
            </a:avLst>
          </a:prstGeom>
          <a:solidFill>
            <a:srgbClr val="223652"/>
          </a:solidFill>
          <a:ln>
            <a:solidFill>
              <a:srgbClr val="22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182112"/>
            <a:ext cx="1783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C45C"/>
                </a:solidFill>
                <a:latin typeface="Aptos"/>
              </a:rPr>
              <a:t>IMPLEMENT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3008376"/>
            <a:ext cx="8183879" cy="585216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3552" y="3163824"/>
            <a:ext cx="7680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8FAFD"/>
                </a:solidFill>
                <a:latin typeface="Aptos"/>
              </a:rPr>
              <a:t>Developer builds save API; peer reviews the change.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9624"/>
            <a:ext cx="2103120" cy="585216"/>
          </a:xfrm>
          <a:prstGeom prst="roundRect">
            <a:avLst>
              <a:gd name="adj" fmla="val 12000"/>
            </a:avLst>
          </a:prstGeom>
          <a:solidFill>
            <a:srgbClr val="223652"/>
          </a:solidFill>
          <a:ln>
            <a:solidFill>
              <a:srgbClr val="22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023360"/>
            <a:ext cx="1783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8DCA4"/>
                </a:solidFill>
                <a:latin typeface="Aptos"/>
              </a:rPr>
              <a:t>VERIFY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63240" y="3849624"/>
            <a:ext cx="8183879" cy="585216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73552" y="4005072"/>
            <a:ext cx="7680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8FAFD"/>
                </a:solidFill>
                <a:latin typeface="Aptos"/>
              </a:rPr>
              <a:t>Test save, refresh recovery, connection loss and authorization.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690872"/>
            <a:ext cx="2103120" cy="585216"/>
          </a:xfrm>
          <a:prstGeom prst="roundRect">
            <a:avLst>
              <a:gd name="adj" fmla="val 12000"/>
            </a:avLst>
          </a:prstGeom>
          <a:solidFill>
            <a:srgbClr val="223652"/>
          </a:solidFill>
          <a:ln>
            <a:solidFill>
              <a:srgbClr val="22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864608"/>
            <a:ext cx="1783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2C4B7"/>
                </a:solidFill>
                <a:latin typeface="Aptos"/>
              </a:rPr>
              <a:t>DONE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63240" y="4690872"/>
            <a:ext cx="8183879" cy="585216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solidFill>
              <a:srgbClr val="1B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73552" y="4846320"/>
            <a:ext cx="7680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8FAFD"/>
                </a:solidFill>
                <a:latin typeface="Aptos"/>
              </a:rPr>
              <a:t>All checks pass; code is merged and demoed.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715000"/>
            <a:ext cx="10424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B1BFD2"/>
                </a:solidFill>
                <a:latin typeface="Aptos"/>
              </a:rPr>
              <a:t>This is an illustrative workflow; confirm technical details with the implementation team.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27278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B1BFD2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4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547104"/>
            <a:ext cx="11183112" cy="10972"/>
          </a:xfrm>
          <a:prstGeom prst="rect">
            <a:avLst/>
          </a:prstGeom>
          <a:solidFill>
            <a:srgbClr val="17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8FAFD"/>
                </a:solidFill>
                <a:latin typeface="Aptos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698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B1BFD2"/>
                </a:solidFill>
                <a:latin typeface="Aptos"/>
              </a:rPr>
              <a:t>A practical Agile approach for the OEPS project.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22C4B7"/>
                </a:solidFill>
                <a:latin typeface="Aptos"/>
              </a:rPr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417320"/>
            <a:ext cx="438912" cy="438912"/>
          </a:xfrm>
          <a:prstGeom prst="ellipse">
            <a:avLst/>
          </a:prstGeom>
          <a:solidFill>
            <a:srgbClr val="22C4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27048"/>
            <a:ext cx="438912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F1B30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353312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Aptos"/>
              </a:rPr>
              <a:t>Keep stories small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353312"/>
            <a:ext cx="66751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B1BFD2"/>
                </a:solidFill>
                <a:latin typeface="Aptos"/>
              </a:rPr>
              <a:t>INVEST + story splitting make work clear and testable.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423160"/>
            <a:ext cx="438912" cy="438912"/>
          </a:xfrm>
          <a:prstGeom prst="ellipse">
            <a:avLst/>
          </a:prstGeom>
          <a:solidFill>
            <a:srgbClr val="5E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32888"/>
            <a:ext cx="438912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F1B30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359152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Aptos"/>
              </a:rPr>
              <a:t>Plan realistically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359152"/>
            <a:ext cx="66751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B1BFD2"/>
                </a:solidFill>
                <a:latin typeface="Aptos"/>
              </a:rPr>
              <a:t>Prioritize by value; estimate collaboratively; use velocity carefully.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429000"/>
            <a:ext cx="438912" cy="438912"/>
          </a:xfrm>
          <a:prstGeom prst="ellipse">
            <a:avLst/>
          </a:prstGeom>
          <a:solidFill>
            <a:srgbClr val="22C4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538728"/>
            <a:ext cx="438912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F1B30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364992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Aptos"/>
              </a:rPr>
              <a:t>Deliver quality daily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3364992"/>
            <a:ext cx="66751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B1BFD2"/>
                </a:solidFill>
                <a:latin typeface="Aptos"/>
              </a:rPr>
              <a:t>Testing, code review and Definition of Done belong in every sprint.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434840"/>
            <a:ext cx="438912" cy="438912"/>
          </a:xfrm>
          <a:prstGeom prst="ellipse">
            <a:avLst/>
          </a:prstGeom>
          <a:solidFill>
            <a:srgbClr val="5E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544568"/>
            <a:ext cx="438912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F1B30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370832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8FAFD"/>
                </a:solidFill>
                <a:latin typeface="Aptos"/>
              </a:rPr>
              <a:t>Automate repeatable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4370832"/>
            <a:ext cx="66751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B1BFD2"/>
                </a:solidFill>
                <a:latin typeface="Aptos"/>
              </a:rPr>
              <a:t>CI/CD helps detect issues early and supports safer releases.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532120"/>
            <a:ext cx="10241280" cy="512064"/>
          </a:xfrm>
          <a:prstGeom prst="roundRect">
            <a:avLst>
              <a:gd name="adj" fmla="val 12000"/>
            </a:avLst>
          </a:prstGeom>
          <a:solidFill>
            <a:srgbClr val="223652"/>
          </a:solidFill>
          <a:ln>
            <a:solidFill>
              <a:srgbClr val="22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687568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2C4B7"/>
                </a:solidFill>
                <a:latin typeface="Aptos"/>
              </a:rPr>
              <a:t>Thank you  •  Questions?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27278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B1BFD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